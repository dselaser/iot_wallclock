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  <p:sldId id="264" r:id="rId15"/>
    <p:sldId id="265" r:id="rId16"/>
    <p:sldId id="266" r:id="rId17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IoT 스마트 벽시계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ESP8266  +  WS2812B 8×32 LED 매트릭스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시간 표시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온습도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wttr.in날씨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자동밝기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다중AP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Arduino .ino  ·  WiFiManager  ·  ESP8266WiFiMulti  ·  wttr.in  ·  NTP  ·  DHT11  ·  CDS  ·  date.nager.at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하드웨어 구성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222222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ESP8266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(NodeMCU)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Arduino .ino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비동기 상태 머신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WS2812B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8×32 LED 패널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 (GPIO5)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78308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" y="242316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23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DHT11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센서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2971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 (GPIO4)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51760" y="283464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4320" y="347472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4747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조도 센서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+10k Pull-up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0" y="3886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WiFi / 인터넷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NTP 서버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wttr.in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date.nager.at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18288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52160" y="2743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146304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251460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35661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WS2812B 전원: 5V 별도 공급 권장 (256 LED, 밝기 제한 시 ~1.5A)  ·  GND 공통 연결 필수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기능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WiFi 다중 AP 자동 전환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Portal에서 1·2번 SSID 등록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ESP8266WiFiMulti → 신호 강한 AP 자동 접속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NTP 자동 시간 동기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pool.ntp.org 접속, 한국 표준시(KST)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UTC+9 자동 적용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 기반 위치 자동 감지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ip-api.com → 도시명 + 위도/경도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격자 변환 없이 기상청 API 직접 활용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" y="395935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외부 날씨 수신 (wttr.in HTTPS)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2793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fetchWeatherWttr() — 실패시 60초/성공시 5분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텍스트 포맷 (%t|%C) → 기온+날씨조건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혼합 표시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온도: wttr.in 외부 기온 (1~5분 갱신)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습도: DHT11 실내 센서 (2.5초 주기)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자동 밝기 + 야간 모드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raw &gt; 960 → 야간 모드 (시계만 + 밝기 1~4)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일반: raw 350~960 → 밝기 150~5 비례 조절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44068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공휴일 자동 표시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4068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date.nager.at API → 한국 공휴일 자동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토·일·공휴일 스크롤 날짜 적색 표시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WiFi 설정 흐름 (Captive Portal + 다중 AP)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전원 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'IoTClock-Setup'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9164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1168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1168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스마트폰 연결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 목록에서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선택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0332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0332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설정 페이지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브라우저 자동 팝업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(192.168.4.1)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7492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9496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SSID 입력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9496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1번+2번 WiFi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SSID·비밀번호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8660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8660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연결 완료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8660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WiFiMulti 등록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강한 AP 자동 선택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834640"/>
            <a:ext cx="84124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2834640"/>
            <a:ext cx="8412480" cy="347472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8346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ESP8266WiFiMulti  자동 전환 동작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321868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AP1 신호 강함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321868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1번 AP 유지 접속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340156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AP1 신호 약화 / 끊김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1840" y="340156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5초 이내 재스캔 → 신호 강한 AP 자동 전환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358444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2번 AP 미입력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358444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1번 AP만으로 정상 동작  (하위 호환)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388620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95020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2번째 AP 정보는 EEPROM에 저장  |  전원 재시작 후에도 유지  |  Portal 재접속으로 변경 가능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LED 표시 →  WiFi ?  (적색 1Hz 깜빡임)   ←  WiFi 미접속 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화면 표시 사이클 (30초)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시 계  HH:MM  (0 ~ 15초)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통합 스크롤  (15 ~ 30초)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0s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15s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496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30s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 시계 표시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816352"/>
            <a:ext cx="3611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12시간제  HH:MM  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출발안내판 스타일 커스텀 5×7 비트맵 폰트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상단 4점 — 0~29초, 노랑 시계방향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하단 4점 — 30~59초, 노랑 반시계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NTP 미동기 시:  --:--  표시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야간 모드 시 시계만 표시 (스크롤 생략)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📜  통합 스크롤 순서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0368" y="28346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날짜 (녹색/적색)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03136" y="28346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평일→녹색  /  토·일·공휴일→적색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333756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30368" y="3337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온도+습도 (노랑)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3136" y="3337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22C  49%  (외부기온+실내습도)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84048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0368" y="38404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(노랑/비=적색)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03136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Cloud  Sunny  Rain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434340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30368" y="4343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아이콘 8×8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03136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태양·구름·비·눈·안개·폭풍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소프트웨어 구조 (Arduino .ino)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solidFill>
            <a:srgbClr val="222222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loop()   Arduino 메인 루프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74980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582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drawFrame()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1945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50 ms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화면 갱신 (20fps)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5458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2821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readDHT()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72821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2.5 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실내 습도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633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3697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updateBrightness()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3697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500 ms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CDS 비례밝기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7210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573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fetchWeatherWttr()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4573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1~5 분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기온+날씨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8086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5449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fetchHolidays()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25449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1 시간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공휴일 갱신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8962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668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WiFi 체크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76325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5 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WiFiMulti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재접속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15468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3154680"/>
            <a:ext cx="2560320" cy="45720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154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날씨 갱신 전략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926080" y="3172968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fetchWeatherWttr() — wValid=false 60초 재시도 / wValid=true 5분 정기 갱신  |  wttr.in HTTPS + 텍스트 포맷 (?format=%t|%C)  |  온도=wttr.in / 습도=DHT11 실내 센서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3703320"/>
            <a:ext cx="859536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703320"/>
            <a:ext cx="8595360" cy="347472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drawFrame()  내부 분기 흐름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0873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WiFi 미접속?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834640" y="4087368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'WiFi ?' 적색 1Hz 깜빡임 → return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28853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야간 모드?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834640" y="4288536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CDS raw &gt; 960 → 시계만 + 밝기 1~4 비례 (스크롤 생략)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4489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phase &lt; 15s?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834640" y="4489704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시계 표시  HH:MM  (커스텀 폰트, 콜론 4점 회전)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6908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phase &gt;= 15s?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834640" y="4690872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날짜→기온+습도→날씨+아이콘 통합 스크롤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57200" y="48920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스크롤 완료?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834640" y="4892040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즉시 시계로 전환 (scrollDone 플래그)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날씨 정보 수신 경로  (wttr.in)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ESP8266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전원 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인터넷 접속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4884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IP → 도시명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(Seoul 등)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9476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2336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wttr.in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(HTTPS)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기온 + 날씨 설명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포맷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9788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descToCondition()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영문 설명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→ 조건 매핑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7240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LED 표시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+ 아이콘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스크롤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97880" y="3017520"/>
            <a:ext cx="1645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309067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partly cloudy  → PCloud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89320" y="33101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rain/drizzle   → Rain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89320" y="35295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snow/sleet     → Snow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89320" y="374904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fog/mist/haze  → Fog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89320" y="3968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thunder/storm  → Storm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89320" y="418795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sunny/clear    → Sunny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HTTPS 방식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WiFiClientSecure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+ setInsecure()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Cloudflare MFLN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4096 RX 버퍼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6032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텍스트 포맷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5176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?format=%t|%C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응답 ~30 bytes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split '|'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JSON 파싱 없음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갱신 전략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84632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wValid=false: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60초 재시도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wValid=true: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5분 정기 갱신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온습도 분리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04088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온도: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wttr.in 외부값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습도: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DHT11 실내 센서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맑은 고딕"/>
              </a:rPr>
              <a:t>폰트 시스템 업그레이드 (5×7 → 5×8 풀-스케일)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49808"/>
            <a:ext cx="84124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65760" y="960120"/>
            <a:ext cx="4023360" cy="393192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4023360" cy="384048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4023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BEFORE  ▪  5×7 GFX 기본 폰트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463040"/>
            <a:ext cx="3694176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</a:rPr>
              <a:t>• Adafruit GFX 기본 폰트 (5×7)
• DIGIT_BMP[10][7]  — 시계 숫자 전용 10글자
• matrix.setTextColor() + setCursor() + print()
• 매트릭스 8행 중 7행만 사용 (마지막 행 공백)
• 시계 숫자 ↔ 스크롤 텍스트 폰트 비일관
• 분 변경 시 숫자 즉시 점프 (애니메이션 없음)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960120"/>
            <a:ext cx="4023360" cy="393192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960120"/>
            <a:ext cx="4023360" cy="384048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960120"/>
            <a:ext cx="4023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AFTER  ▪  5×8 HD44780 풀-스케일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9472" y="1463040"/>
            <a:ext cx="3694176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</a:rPr>
              <a:t>• HD44780 LCD 스타일 5×8 (8행 풀-스케일)
• FONT_5X8[95][8]  — ASCII 0x20~0x7E 통합
• drawCharPx() / drawStringPx() 커스텀 렌더링
• 매트릭스 8행 전체 활용 (디센더 포함)
• 시계 숫자 ↔ 스크롤 텍스트 단일 폰트 공유
• 시·분 자리별 슬라이드 다운 애니메이션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맑은 고딕"/>
              </a:rPr>
              <a:t>시·분 숫자 슬라이드 다운 애니메이션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49808"/>
            <a:ext cx="84124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65760" y="9144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</a:rPr>
              <a:t>▪ 8픽셀 슬라이드 (50ms × 8 = 400ms)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250000" cy="400000"/>
          </a:xfrm>
          <a:prstGeom prst="rect">
            <a:avLst/>
          </a:prstGeom>
          <a:noFill/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5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5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5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5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5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5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5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5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5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5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5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5760" y="1863040"/>
            <a:ext cx="29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t = 0 ms
(분 변경 직전)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5760" y="1617320"/>
            <a:ext cx="863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508760" y="1417320"/>
            <a:ext cx="250000" cy="400000"/>
          </a:xfrm>
          <a:prstGeom prst="rect">
            <a:avLst/>
          </a:prstGeom>
          <a:noFill/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08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8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08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58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08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8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08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08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58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8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58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08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58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08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58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08760" y="14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08760" y="14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08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08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58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08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658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88760" y="1863040"/>
            <a:ext cx="29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t = 200 ms
(슬라이드 중)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778760" y="1617320"/>
            <a:ext cx="863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2651760" y="1417320"/>
            <a:ext cx="250000" cy="400000"/>
          </a:xfrm>
          <a:prstGeom prst="rect">
            <a:avLst/>
          </a:prstGeom>
          <a:noFill/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51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01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51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01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51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51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51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651760" y="14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51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701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51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01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51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51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51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51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01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51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01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631760" y="1863040"/>
            <a:ext cx="29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t = 300 ms
(슬라이드 중)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21760" y="1617320"/>
            <a:ext cx="863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3794760" y="1417320"/>
            <a:ext cx="250000" cy="400000"/>
          </a:xfrm>
          <a:prstGeom prst="rect">
            <a:avLst/>
          </a:prstGeom>
          <a:noFill/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894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944760" y="14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44760" y="14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15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794760" y="15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94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44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94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44760" y="16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794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994760" y="16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794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94760" y="171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844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94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44760" y="1767320"/>
            <a:ext cx="50000" cy="5000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774760" y="1863040"/>
            <a:ext cx="29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t = 400 ms
(완료)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94960" y="91440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</a:rPr>
              <a:t>▪ 자리별 상태 머신 (DigitAnim)</a:t>
            </a:r>
          </a:p>
        </p:txBody>
      </p:sp>
      <p:sp>
        <p:nvSpPr>
          <p:cNvPr id="92" name="Oval 91"/>
          <p:cNvSpPr/>
          <p:nvPr/>
        </p:nvSpPr>
        <p:spPr>
          <a:xfrm>
            <a:off x="5394960" y="1371600"/>
            <a:ext cx="548640" cy="548640"/>
          </a:xfrm>
          <a:prstGeom prst="ellipse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394960" y="13716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</a:rPr>
              <a:t>정적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961888" y="1645920.0"/>
            <a:ext cx="694944" cy="0.0"/>
          </a:xfrm>
          <a:prstGeom prst="line">
            <a:avLst/>
          </a:prstGeom>
          <a:ln w="12700">
            <a:solidFill>
              <a:srgbClr val="00000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6675120" y="1371600"/>
            <a:ext cx="548640" cy="548640"/>
          </a:xfrm>
          <a:prstGeom prst="ellipse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675120" y="13716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</a:rPr>
              <a:t>frame=8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242048" y="1645920.0"/>
            <a:ext cx="603504" cy="0.0"/>
          </a:xfrm>
          <a:prstGeom prst="line">
            <a:avLst/>
          </a:prstGeom>
          <a:ln w="12700">
            <a:solidFill>
              <a:srgbClr val="00000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7863840" y="1371600"/>
            <a:ext cx="548640" cy="548640"/>
          </a:xfrm>
          <a:prstGeom prst="ellipse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63840" y="13716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</a:rPr>
              <a:t>frame--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94960" y="194767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맑은 고딕"/>
              </a:rPr>
              <a:t>newD ≠ cur          매 50ms 호출         frame == 0 → 정적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94960" y="2331720"/>
            <a:ext cx="3383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</a:rPr>
              <a:t>▪ 핵심 함수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2697480"/>
            <a:ext cx="3383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• drawDigitAnim(idx, x, newD, color, yMin, yMax)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94960" y="3017520"/>
            <a:ext cx="3383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• drawDigitClipped(...)  ─ yMin~yMax 행만 그림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94960" y="3337560"/>
            <a:ext cx="3383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• drawCharPx() / drawStringPx()  ─ ASCII 렌더링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434840"/>
            <a:ext cx="8412480" cy="54864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0" y="443484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변경 없는 자리는 정적 표시 유지 · 변경된 자리만 슬라이드 · 콜론 영역(x=14,15)은 숫자(x=1..11, 19..29)와 분리되어 yMax=7 클리핑으로 보호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맑은 고딕"/>
              </a:rPr>
              <a:t>HH:MM:SS 레이아웃 + UD:UD 슬라이드 + 컬러 팔레트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49808"/>
            <a:ext cx="84124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0292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6424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7592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0992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11096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12264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13432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1576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16936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18104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9272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2044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2160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22776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23944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2744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28616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9784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30952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3212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3328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34456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35624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36792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37960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39128" y="105156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256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06424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07592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0876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0992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11096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12264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3432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1460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1576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6936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18104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19272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2044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72160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22776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23944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25112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2628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2744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28616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29784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330952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3212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3328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34456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35624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36792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537960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739128" y="125272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0408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05256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06424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07592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0876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0992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11096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12264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313432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1460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1576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916936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118104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319272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2044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2160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22776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123944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25112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2628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72744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928616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129784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30952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3212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73328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34456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35624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336792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37960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145389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0292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0408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5256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06424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07592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0876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0992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11096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12264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313432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51460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1576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916936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118104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319272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52044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72160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922776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123944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325112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52628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72744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928616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129784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330952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53212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3328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34456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135624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36792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537960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739128" y="1655064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0292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0408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05256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06424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307592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0876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70992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911096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12264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313432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51460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71576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916936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118104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319272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52044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72160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922776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123944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325112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52628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72744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928616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129784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330952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53212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73328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934456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135624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336792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537960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739128" y="1856232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292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0408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05256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06424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307592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0876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70992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911096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112264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313432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51460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71576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916936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118104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319272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52044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72160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922776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123944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325112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52628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72744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928616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129784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30952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53212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73328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934456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135624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336792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537960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739128" y="2057400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0292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0408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05256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06424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307592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50876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70992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911096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12264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313432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51460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1576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916936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118104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19272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52044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72160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922776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23944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325112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52628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72744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928616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129784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330952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53212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73328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934456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135624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336792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537960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6739128" y="2258568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0292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70408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905256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106424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307592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50876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70992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911096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112264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313432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251460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271576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2916936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118104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319272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52044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372160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3922776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123944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325112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52628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72744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4928616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129784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330952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53212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73328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934456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135624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336792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537960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739128" y="2459736"/>
            <a:ext cx="201168" cy="201168"/>
          </a:xfrm>
          <a:prstGeom prst="rect">
            <a:avLst/>
          </a:prstGeom>
          <a:noFill/>
          <a:ln w="317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02920" y="1051560"/>
            <a:ext cx="6437376" cy="1609344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905256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704088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905256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05256" y="145389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05256" y="1655064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905256" y="1856232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905256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905256" y="225856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04088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905256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106424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911096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2112264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2313432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709928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514600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514600" y="145389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514600" y="1655064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313432" y="1856232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112264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911096" y="225856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709928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911096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2112264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313432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514600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916936" y="145389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916936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3319272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3520440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721608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922776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123944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123944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922776" y="145389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721608" y="1655064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922776" y="1856232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123944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319272" y="225856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123944" y="225856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520440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721608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922776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5129784" y="105156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928616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5129784" y="125272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727448" y="145389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5129784" y="145389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526280" y="1655064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129784" y="1655064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526280" y="1856232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5129784" y="1856232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4526280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727448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928616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5129784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5330952" y="2057400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5129784" y="2258568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129784" y="2459736"/>
            <a:ext cx="201168" cy="201168"/>
          </a:xfrm>
          <a:prstGeom prst="rect">
            <a:avLst/>
          </a:prstGeom>
          <a:solidFill>
            <a:srgbClr val="00C8C8"/>
          </a:solidFill>
          <a:ln w="3175">
            <a:solidFill>
              <a:srgbClr val="0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532120" y="1655064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5733288" y="1655064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5934456" y="1655064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5532120" y="1856232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5532120" y="2057400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5733288" y="2057400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5934456" y="2057400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5934456" y="2258568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5532120" y="2459736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5733288" y="2459736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5934456" y="2459736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6336792" y="1655064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6537960" y="1655064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6739128" y="1655064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6336792" y="1856232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6336792" y="2057400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6537960" y="2057400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6739128" y="2057400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336792" y="2258568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739128" y="2258568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336792" y="2459736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537960" y="2459736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739128" y="2459736"/>
            <a:ext cx="201168" cy="201168"/>
          </a:xfrm>
          <a:prstGeom prst="rect">
            <a:avLst/>
          </a:prstGeom>
          <a:solidFill>
            <a:srgbClr val="E000B4"/>
          </a:solidFill>
          <a:ln w="3175">
            <a:solidFill>
              <a:srgbClr val="E00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02920" y="2706624"/>
            <a:ext cx="1005840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11480" y="2752344"/>
            <a:ext cx="11887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</a:rPr>
              <a:t>H10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1709928" y="2706624"/>
            <a:ext cx="1005840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1618488" y="2752344"/>
            <a:ext cx="11887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</a:rPr>
              <a:t>H1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2916936" y="2706624"/>
            <a:ext cx="201168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2825496" y="2752344"/>
            <a:ext cx="38404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</a:rPr>
              <a:t>: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3319272" y="2706624"/>
            <a:ext cx="1005840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3227832" y="2752344"/>
            <a:ext cx="11887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</a:rPr>
              <a:t>M10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4526280" y="2706624"/>
            <a:ext cx="1005840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34840" y="2752344"/>
            <a:ext cx="11887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</a:rPr>
              <a:t>M1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532120" y="2706624"/>
            <a:ext cx="603504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5440680" y="2752344"/>
            <a:ext cx="78638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맑은 고딕"/>
              </a:rPr>
              <a:t>S10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6336792" y="2706624"/>
            <a:ext cx="603504" cy="3657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245352" y="2752344"/>
            <a:ext cx="78638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맑은 고딕"/>
              </a:rPr>
              <a:t>S1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84048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0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389888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5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2395728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10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2798064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12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00400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14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4206240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19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5212080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24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5413248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25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016752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28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620256" y="822960"/>
            <a:ext cx="23774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맑은 고딕"/>
              </a:rPr>
              <a:t>31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365760" y="3209544"/>
            <a:ext cx="4572000" cy="169164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02920" y="3255264"/>
            <a:ext cx="42976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▪ 자리별 슬라이드 방향 (UD:UD 패턴)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731520" y="3666744"/>
            <a:ext cx="640080" cy="9144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731520" y="371246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</a:rPr>
              <a:t>H10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731520" y="3941064"/>
            <a:ext cx="64008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맑은 고딕"/>
              </a:rPr>
              <a:t>↑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731520" y="430682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맑은 고딕"/>
              </a:rPr>
              <a:t>U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1508760" y="3666744"/>
            <a:ext cx="640080" cy="9144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1508760" y="371246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</a:rPr>
              <a:t>H1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508760" y="3941064"/>
            <a:ext cx="64008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맑은 고딕"/>
              </a:rPr>
              <a:t>↓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508760" y="430682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맑은 고딕"/>
              </a:rPr>
              <a:t>D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2286000" y="3666744"/>
            <a:ext cx="640080" cy="9144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2286000" y="371246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</a:rPr>
              <a:t>: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286000" y="3941064"/>
            <a:ext cx="64008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맑은 고딕"/>
              </a:rPr>
              <a:t>·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286000" y="430682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맑은 고딕"/>
              </a:rPr>
              <a:t>─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3063240" y="3666744"/>
            <a:ext cx="640080" cy="9144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3063240" y="371246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</a:rPr>
              <a:t>M10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063240" y="3941064"/>
            <a:ext cx="64008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맑은 고딕"/>
              </a:rPr>
              <a:t>↑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063240" y="430682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맑은 고딕"/>
              </a:rPr>
              <a:t>U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3840480" y="3666744"/>
            <a:ext cx="640080" cy="9144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3840480" y="371246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</a:rPr>
              <a:t>M1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3840480" y="3941064"/>
            <a:ext cx="64008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맑은 고딕"/>
              </a:rPr>
              <a:t>↓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3840480" y="4306824"/>
            <a:ext cx="6400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맑은 고딕"/>
              </a:rPr>
              <a:t>D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02920" y="4626864"/>
            <a:ext cx="429768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onsolas"/>
              </a:rPr>
              <a:t>drawDigitAnim(idx, x, newD, color, yMin, yMax, slideUp)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029200" y="3209544"/>
            <a:ext cx="3749039" cy="169164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5166360" y="3255264"/>
            <a:ext cx="3474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▪ 컬러 팔레트 + 폰트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212080" y="3611880"/>
            <a:ext cx="201168" cy="201168"/>
          </a:xfrm>
          <a:prstGeom prst="rect">
            <a:avLst/>
          </a:prstGeom>
          <a:solidFill>
            <a:srgbClr val="00C8C8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5486400" y="3575304"/>
            <a:ext cx="13716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Consolas"/>
              </a:rPr>
              <a:t>C_CYAN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6492240" y="3575304"/>
            <a:ext cx="8229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onsolas"/>
              </a:rPr>
              <a:t>0x07FF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7315200" y="3575304"/>
            <a:ext cx="13716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시·분, 콜론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212080" y="3904488"/>
            <a:ext cx="201168" cy="201168"/>
          </a:xfrm>
          <a:prstGeom prst="rect">
            <a:avLst/>
          </a:prstGeom>
          <a:solidFill>
            <a:srgbClr val="E000B4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486400" y="3867912"/>
            <a:ext cx="13716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Consolas"/>
              </a:rPr>
              <a:t>C_MAGENTA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6492240" y="3867912"/>
            <a:ext cx="8229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onsolas"/>
              </a:rPr>
              <a:t>0xF816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7315200" y="3867912"/>
            <a:ext cx="13716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초 (신규)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5212080" y="4215384"/>
            <a:ext cx="338327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• FONT_5X8[95][8] — 시·분 8행 풀-스케일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212080" y="4416552"/>
            <a:ext cx="338327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• FONT_3X5[10][5] — 초 전용 (3픽셀 폭 × 5행)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12080" y="4617720"/>
            <a:ext cx="338327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• 콜론: 1픽셀 폭 정적 시안 두 점 (y=2, y=5)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맑은 고딕"/>
              </a:rPr>
              <a:t>안정성 개선 — loop() 블로킹 제거 &amp; 1분 사이클 전환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685800"/>
            <a:ext cx="84124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</a:rPr>
              <a:t>▪ 60초 사이클 (NTP tm_sec 기준) — HTTPS 호출은 스크롤 구간에만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3931920" cy="4572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393192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</a:rPr>
              <a:t>시계 표시 (HH:MM:SS)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234440"/>
            <a:ext cx="3931920" cy="457200"/>
          </a:xfrm>
          <a:prstGeom prst="rect">
            <a:avLst/>
          </a:prstGeom>
          <a:solidFill>
            <a:srgbClr val="E5E5E5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234440"/>
            <a:ext cx="393192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</a:rPr>
              <a:t>스크롤 (날짜·날씨·온습도) — HTTPS 허용 구간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.0" y="1691640"/>
            <a:ext cx="0.0" cy="11887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1783080"/>
            <a:ext cx="54864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</a:rPr>
              <a:t>0s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06040.0" y="1691640"/>
            <a:ext cx="0.0" cy="11887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31720" y="1783080"/>
            <a:ext cx="54864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</a:rPr>
              <a:t>15s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0.0" y="1691640"/>
            <a:ext cx="0.0" cy="11887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0" y="1783080"/>
            <a:ext cx="54864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</a:rPr>
              <a:t>30s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37960.0" y="1691640"/>
            <a:ext cx="0.0" cy="11887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63640" y="1783080"/>
            <a:ext cx="54864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</a:rPr>
              <a:t>45s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03920.0" y="1691640"/>
            <a:ext cx="0.0" cy="11887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0" y="1783080"/>
            <a:ext cx="54864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</a:rPr>
              <a:t>60s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868680"/>
            <a:ext cx="10972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맑은 고딕"/>
              </a:rPr>
              <a:t>HTTPS 호출 OK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65192.0" y="1143000"/>
            <a:ext cx="0.0" cy="91440"/>
          </a:xfrm>
          <a:prstGeom prst="line">
            <a:avLst/>
          </a:prstGeom>
          <a:ln w="12700">
            <a:solidFill>
              <a:srgbClr val="00000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74520" y="868680"/>
            <a:ext cx="146304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555555"/>
                </a:solidFill>
                <a:latin typeface="맑은 고딕"/>
              </a:rPr>
              <a:t>HTTPS 호출 차단 (시계 보호)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06040.0" y="1143000"/>
            <a:ext cx="0.0" cy="91440"/>
          </a:xfrm>
          <a:prstGeom prst="line">
            <a:avLst/>
          </a:prstGeom>
          <a:ln w="12700">
            <a:solidFill>
              <a:srgbClr val="555555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65760" y="2468880"/>
            <a:ext cx="4846320" cy="237744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468880"/>
            <a:ext cx="4846320" cy="36576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468880"/>
            <a:ext cx="48463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변경 사항 5종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926080"/>
            <a:ext cx="2743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926080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사이클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2926080"/>
            <a:ext cx="30175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30s → 60s (1분), NTP tm_sec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291840"/>
            <a:ext cx="2743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2.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291840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WiFi 체크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291840"/>
            <a:ext cx="30175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g_wifiMulti.run(8s) → WiFi.reconnect() 비블로킹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657600"/>
            <a:ext cx="2743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3.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657600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애니메이션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3657600"/>
            <a:ext cx="30175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frame 카운터 → millis() 경과 시간 기준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23360"/>
            <a:ext cx="2743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4.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023360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023360"/>
            <a:ext cx="30175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15s → 5s timeout · 스크롤 구간만 호출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389120"/>
            <a:ext cx="2743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5.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389120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LED 밝기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389120"/>
            <a:ext cx="30175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Consolas"/>
              </a:rPr>
              <a:t>낮 최대 150 → 200 (1단계 ↑)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94960" y="2468880"/>
            <a:ext cx="3383280" cy="237744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94960" y="2468880"/>
            <a:ext cx="3383280" cy="36576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2468880"/>
            <a:ext cx="33832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BEFORE → AFTER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2926080"/>
            <a:ext cx="9144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증상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6080"/>
            <a:ext cx="11430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맑은 고딕"/>
              </a:rPr>
              <a:t>초·시계 멈춤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0" y="2926080"/>
            <a:ext cx="1828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292608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0초 멈춤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3337560"/>
            <a:ext cx="9144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M1 슬라이드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3337560"/>
            <a:ext cx="11430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맑은 고딕"/>
              </a:rPr>
              <a:t>천천히 깨짐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0" y="3337560"/>
            <a:ext cx="1828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33756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부드러움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0" y="3749040"/>
            <a:ext cx="9144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loop 멈춤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3749040"/>
            <a:ext cx="11430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맑은 고딕"/>
              </a:rPr>
              <a:t>최대 23s (8+15)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0" y="3749040"/>
            <a:ext cx="1828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374904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0s (즉시 반환)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160520"/>
            <a:ext cx="9144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HTTPS 영향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5080" y="4160520"/>
            <a:ext cx="114300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맑은 고딕"/>
              </a:rPr>
              <a:t>언제든 시계 멈춤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0" y="4160520"/>
            <a:ext cx="1828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416052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맑은 고딕"/>
              </a:rPr>
              <a:t>스크롤 중에만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937760"/>
            <a:ext cx="8412480" cy="2743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4937760"/>
            <a:ext cx="82296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맑은 고딕"/>
              </a:rPr>
              <a:t>loop() 최대 멈춤이 23초 → 0초로 감소. ESP8266 단일 코어 한계 내에서 사용자 체감 멈춤 사실상 제거.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스마트 벽시계</dc:title>
  <dc:subject>PptxGenJS Presentation</dc:subject>
  <dc:creator>PptxGenJS</dc:creator>
  <cp:lastModifiedBy>PptxGenJS</cp:lastModifiedBy>
  <cp:revision>1</cp:revision>
  <dcterms:created xsi:type="dcterms:W3CDTF">2026-04-24T22:26:54Z</dcterms:created>
  <dcterms:modified xsi:type="dcterms:W3CDTF">2026-04-24T22:26:54Z</dcterms:modified>
</cp:coreProperties>
</file>